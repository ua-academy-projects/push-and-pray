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a113d827bd49b9" /><Relationship Type="http://schemas.openxmlformats.org/officeDocument/2006/relationships/extended-properties" Target="/docProps/app.xml" Id="Re6f32d24c91d45d3" /><Relationship Type="http://schemas.openxmlformats.org/officeDocument/2006/relationships/officeDocument" Target="/ppt/presentation.xml" Id="R10049c8b9cd34b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613acf8f244d08"/>
  </p:sldMasterIdLst>
  <p:notesMasterIdLst>
    <p:notesMasterId xmlns:r="http://schemas.openxmlformats.org/officeDocument/2006/relationships" r:id="Rcca6adb36e3e4341"/>
  </p:notesMasterIdLst>
  <p:sldIdLst>
    <p:sldId xmlns:r="http://schemas.openxmlformats.org/officeDocument/2006/relationships" id="256" r:id="R08f28128c345421e"/>
    <p:sldId xmlns:r="http://schemas.openxmlformats.org/officeDocument/2006/relationships" id="257" r:id="Rf8b70201431841cc"/>
    <p:sldId xmlns:r="http://schemas.openxmlformats.org/officeDocument/2006/relationships" id="258" r:id="R3d10176c2394475b"/>
    <p:sldId xmlns:r="http://schemas.openxmlformats.org/officeDocument/2006/relationships" id="259" r:id="R15cc1bf4fa6e4897"/>
    <p:sldId xmlns:r="http://schemas.openxmlformats.org/officeDocument/2006/relationships" id="260" r:id="R0c887d5499bb4d25"/>
    <p:sldId xmlns:r="http://schemas.openxmlformats.org/officeDocument/2006/relationships" id="261" r:id="R6889791ea6f64034"/>
    <p:sldId xmlns:r="http://schemas.openxmlformats.org/officeDocument/2006/relationships" id="262" r:id="Radf24a42b1974dd1"/>
    <p:sldId xmlns:r="http://schemas.openxmlformats.org/officeDocument/2006/relationships" id="263" r:id="Rbdaa031c5c0e4a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80e3783e6c4475" /><Relationship Type="http://schemas.openxmlformats.org/officeDocument/2006/relationships/slideMaster" Target="/ppt/slideMasters/slideMaster1.xml" Id="Rfa613acf8f244d08" /><Relationship Type="http://schemas.openxmlformats.org/officeDocument/2006/relationships/notesMaster" Target="/ppt/notesMasters/notesMaster1.xml" Id="Rcca6adb36e3e4341" /><Relationship Type="http://schemas.openxmlformats.org/officeDocument/2006/relationships/presProps" Target="/ppt/presProps.xml" Id="R8febc20954d54b55" /><Relationship Type="http://schemas.openxmlformats.org/officeDocument/2006/relationships/tableStyles" Target="/ppt/tableStyles.xml" Id="Rc6a03ce9da8d4300" /><Relationship Type="http://schemas.openxmlformats.org/officeDocument/2006/relationships/slide" Target="/ppt/slides/slide1.xml" Id="R08f28128c345421e" /><Relationship Type="http://schemas.openxmlformats.org/officeDocument/2006/relationships/slide" Target="/ppt/slides/slide2.xml" Id="Rf8b70201431841cc" /><Relationship Type="http://schemas.openxmlformats.org/officeDocument/2006/relationships/slide" Target="/ppt/slides/slide3.xml" Id="R3d10176c2394475b" /><Relationship Type="http://schemas.openxmlformats.org/officeDocument/2006/relationships/slide" Target="/ppt/slides/slide4.xml" Id="R15cc1bf4fa6e4897" /><Relationship Type="http://schemas.openxmlformats.org/officeDocument/2006/relationships/slide" Target="/ppt/slides/slide5.xml" Id="R0c887d5499bb4d25" /><Relationship Type="http://schemas.openxmlformats.org/officeDocument/2006/relationships/slide" Target="/ppt/slides/slide6.xml" Id="R6889791ea6f64034" /><Relationship Type="http://schemas.openxmlformats.org/officeDocument/2006/relationships/slide" Target="/ppt/slides/slide7.xml" Id="Radf24a42b1974dd1" /><Relationship Type="http://schemas.openxmlformats.org/officeDocument/2006/relationships/slide" Target="/ppt/slides/slide8.xml" Id="Rbdaa031c5c0e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4179acc5534d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2235068b91481d" /><Relationship Type="http://schemas.openxmlformats.org/officeDocument/2006/relationships/notesMaster" Target="/ppt/notesMasters/notesMaster1.xml" Id="R3e2499b2071a4e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4523c3f05845ec" /><Relationship Type="http://schemas.openxmlformats.org/officeDocument/2006/relationships/notesMaster" Target="/ppt/notesMasters/notesMaster1.xml" Id="R352c2e1470d946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63495449fe45b3" /><Relationship Type="http://schemas.openxmlformats.org/officeDocument/2006/relationships/notesMaster" Target="/ppt/notesMasters/notesMaster1.xml" Id="R60f7c3a186694c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ecd59b187a4807" /><Relationship Type="http://schemas.openxmlformats.org/officeDocument/2006/relationships/notesMaster" Target="/ppt/notesMasters/notesMaster1.xml" Id="R8b5cc7bb65cc4c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5aab024a9a4e33" /><Relationship Type="http://schemas.openxmlformats.org/officeDocument/2006/relationships/notesMaster" Target="/ppt/notesMasters/notesMaster1.xml" Id="R9fc9985c28b04c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5ef2d297f941bc" /><Relationship Type="http://schemas.openxmlformats.org/officeDocument/2006/relationships/notesMaster" Target="/ppt/notesMasters/notesMaster1.xml" Id="Ra105c92f8e4d4d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0c8b351b6e4558" /><Relationship Type="http://schemas.openxmlformats.org/officeDocument/2006/relationships/notesMaster" Target="/ppt/notesMasters/notesMaster1.xml" Id="Rb25be49682b044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ddd0d2d522478b" /><Relationship Type="http://schemas.openxmlformats.org/officeDocument/2006/relationships/notesMaster" Target="/ppt/notesMasters/notesMaster1.xml" Id="Rfcd25c6516ea4b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b13d82c2743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fab81bed9644ce" /><Relationship Type="http://schemas.openxmlformats.org/officeDocument/2006/relationships/slideLayout" Target="/ppt/slideLayouts/slideLayout1.xml" Id="R80c3fa5e24384a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c3fa5e24384a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140dfba5b46ab" /><Relationship Type="http://schemas.openxmlformats.org/officeDocument/2006/relationships/notesSlide" Target="/ppt/notesSlides/notesSlide1.xml" Id="Rb7ba1d3b746b43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3497bc9704278" /><Relationship Type="http://schemas.openxmlformats.org/officeDocument/2006/relationships/notesSlide" Target="/ppt/notesSlides/notesSlide2.xml" Id="R1023b1c8fa564c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f090949884bcc" /><Relationship Type="http://schemas.openxmlformats.org/officeDocument/2006/relationships/notesSlide" Target="/ppt/notesSlides/notesSlide3.xml" Id="Rf2bfe4a5cb1f44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013e62c99441a" /><Relationship Type="http://schemas.openxmlformats.org/officeDocument/2006/relationships/notesSlide" Target="/ppt/notesSlides/notesSlide4.xml" Id="R3131eb1d177a4f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b28836d404415" /><Relationship Type="http://schemas.openxmlformats.org/officeDocument/2006/relationships/notesSlide" Target="/ppt/notesSlides/notesSlide5.xml" Id="R35a285d1fcb741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99d3efc504161" /><Relationship Type="http://schemas.openxmlformats.org/officeDocument/2006/relationships/notesSlide" Target="/ppt/notesSlides/notesSlide6.xml" Id="R64c7d3d50a1849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634cb1d854359" /><Relationship Type="http://schemas.openxmlformats.org/officeDocument/2006/relationships/notesSlide" Target="/ppt/notesSlides/notesSlide7.xml" Id="Rfaa99a2d9b6441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beaef4cbd40c1" /><Relationship Type="http://schemas.openxmlformats.org/officeDocument/2006/relationships/notesSlide" Target="/ppt/notesSlides/notesSlide8.xml" Id="R33f3d8c570294b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A47BCCAE-F226-479D-B38B-535494F2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DEVOPS ACADEMY · ASSIGNMENT 1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27D7A66-3920-4E8F-B1E7-0483B5B9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8572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Rateboard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E85CD7D-F2A3-4E9B-B567-819382F2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9144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Три сервіси для курсів, історії та надійного збереження даних</a:t>
            </a:r>
          </a:p>
        </p:txBody>
      </p:sp>
      <p:sp>
        <p:nvSpPr>
          <p:cNvPr id="4" name="cover-tech">
            <a:extLst xmlns:a="http://schemas.openxmlformats.org/drawingml/2006/main">
              <a:ext uri="{FF2B5EF4-FFF2-40B4-BE49-F238E27FC236}">
                <a16:creationId xmlns:a16="http://schemas.microsoft.com/office/drawing/2014/main" id="{F5F9B98B-06C5-4BD1-B6B6-BA7AF4CA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723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HTML/CSS/JS · Python/FastAPI · Go · PostgreSQL</a:t>
            </a:r>
          </a:p>
        </p:txBody>
      </p:sp>
    </p:spTree>
    <p:extLst>
      <p:ext uri="{BB962C8B-B14F-4D97-AF65-F5344CB8AC3E}">
        <p14:creationId xmlns:p14="http://schemas.microsoft.com/office/powerpoint/2010/main" val="2118860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CF0BA2-124E-4FC8-A61E-00082FBA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Архітектура відповідає головній меті завдання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0C0C269-1EFD-419A-B67E-CDB686EA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1BD0D-E4EA-453E-B851-C3726EB4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Завдання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C4EAE-1125-4618-90C0-414DE4AC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5905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Побудувати невеликий застосунок із трьох сервісів і реляційної БД. Пріоритет — зрозумілі межі, поведінка та код, який можна пояснити.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9EBFB-6B00-4A93-81D8-597EBAD0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1445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Що реалізовано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E71E9-5F0C-4EFA-88A8-E46DB96F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40005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✓ UI викликає тільки Backend
✓ Backend інтегрує публічні API
✓ History одноосібно володіє PostgreSQL
✓ Поточні дані, refresh і History API</a:t>
            </a:r>
          </a:p>
        </p:txBody>
      </p:sp>
      <p:sp>
        <p:nvSpPr>
          <p:cNvPr id="7" name="gap-box">
            <a:extLst xmlns:a="http://schemas.openxmlformats.org/drawingml/2006/main">
              <a:ext uri="{FF2B5EF4-FFF2-40B4-BE49-F238E27FC236}">
                <a16:creationId xmlns:a16="http://schemas.microsoft.com/office/drawing/2014/main" id="{BECBCA82-461C-4A02-889D-346539F3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10934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9525">
            <a:solidFill>
              <a:srgbClr val="E2B9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5114E-F29E-4572-A6CF-B0366793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323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3E48"/>
                </a:solidFill>
                <a:latin typeface="Helvetica Neue"/>
                <a:ea typeface="Helvetica Neue"/>
                <a:cs typeface="Helvetica Neue"/>
              </a:defRPr>
            </a:pPr>
            <a:r>
              <a:t>Відкритий пункт відповідності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2D2D4-0174-4141-B5B3-562F7B68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91075"/>
            <a:ext cx="70008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Збережена історія доступна через Backend API, але ще не показана окремим списком у UI.</a:t>
            </a:r>
          </a:p>
        </p:txBody>
      </p:sp>
    </p:spTree>
    <p:extLst>
      <p:ext uri="{BB962C8B-B14F-4D97-AF65-F5344CB8AC3E}">
        <p14:creationId xmlns:p14="http://schemas.microsoft.com/office/powerpoint/2010/main" val="503130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95D111-E37C-4F4C-AA7B-8022B0BB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Кожен компонент має одну чітку зону відповідальності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A33A850-1252-4524-B442-EBEAE1E4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cxnSp>
        <p:nvCxnSpPr>
          <p:cNvPr id="24" name="ui-to-backend"/>
          <p:cNvCxnSpPr/>
          <p:nvPr/>
        </p:nvCxnSpPr>
        <p:spPr>
          <a:xfrm xmlns:a="http://schemas.openxmlformats.org/drawingml/2006/main">
            <a:off x="2571750" y="2914650"/>
            <a:ext cx="1238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068"/>
            </a:solidFill>
            <a:prstDash val="solid"/>
          </a:ln>
        </p:spPr>
      </p:cxnSp>
      <p:cxnSp>
        <p:nvCxnSpPr>
          <p:cNvPr id="25" name="backend-to-providers"/>
          <p:cNvCxnSpPr/>
          <p:nvPr/>
        </p:nvCxnSpPr>
        <p:spPr>
          <a:xfrm xmlns:a="http://schemas.openxmlformats.org/drawingml/2006/main">
            <a:off x="5572125" y="1905000"/>
            <a:ext cx="286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068"/>
            </a:solidFill>
            <a:prstDash val="solid"/>
          </a:ln>
        </p:spPr>
      </p:cxnSp>
      <p:cxnSp>
        <p:nvCxnSpPr>
          <p:cNvPr id="26" name="backend-to-history"/>
          <p:cNvCxnSpPr/>
          <p:nvPr/>
        </p:nvCxnSpPr>
        <p:spPr>
          <a:xfrm xmlns:a="http://schemas.openxmlformats.org/drawingml/2006/main">
            <a:off x="6286500" y="29146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068"/>
            </a:solidFill>
            <a:prstDash val="solid"/>
          </a:ln>
        </p:spPr>
      </p:cxnSp>
      <p:cxnSp>
        <p:nvCxnSpPr>
          <p:cNvPr id="27" name="history-to-db"/>
          <p:cNvCxnSpPr/>
          <p:nvPr/>
        </p:nvCxnSpPr>
        <p:spPr>
          <a:xfrm xmlns:a="http://schemas.openxmlformats.org/drawingml/2006/main">
            <a:off x="8810625" y="3486150"/>
            <a:ext cx="286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068"/>
            </a:solidFill>
            <a:prstDash val="solid"/>
          </a:ln>
        </p:spPr>
      </p:cxnSp>
      <p:sp>
        <p:nvSpPr>
          <p:cNvPr id="7" name="ui-node">
            <a:extLst xmlns:a="http://schemas.openxmlformats.org/drawingml/2006/main">
              <a:ext uri="{FF2B5EF4-FFF2-40B4-BE49-F238E27FC236}">
                <a16:creationId xmlns:a16="http://schemas.microsoft.com/office/drawing/2014/main" id="{E13E0B43-17AC-4C9D-BB21-3CA0E499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905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168A4B"/>
            </a:solidFill>
            <a:prstDash val="solid"/>
          </a:ln>
        </p:spPr>
      </p:sp>
      <p:sp>
        <p:nvSpPr>
          <p:cNvPr id="8" name="backend-node">
            <a:extLst xmlns:a="http://schemas.openxmlformats.org/drawingml/2006/main">
              <a:ext uri="{FF2B5EF4-FFF2-40B4-BE49-F238E27FC236}">
                <a16:creationId xmlns:a16="http://schemas.microsoft.com/office/drawing/2014/main" id="{176D3CA7-BFA5-44F0-A124-AAB29198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2F5E9"/>
          </a:solidFill>
          <a:ln xmlns:a="http://schemas.openxmlformats.org/drawingml/2006/main" w="9525">
            <a:solidFill>
              <a:srgbClr val="168A4B"/>
            </a:solidFill>
            <a:prstDash val="solid"/>
          </a:ln>
        </p:spPr>
      </p:sp>
      <p:sp>
        <p:nvSpPr>
          <p:cNvPr id="9" name="provider-node">
            <a:extLst xmlns:a="http://schemas.openxmlformats.org/drawingml/2006/main">
              <a:ext uri="{FF2B5EF4-FFF2-40B4-BE49-F238E27FC236}">
                <a16:creationId xmlns:a16="http://schemas.microsoft.com/office/drawing/2014/main" id="{A7EF81DB-BE5E-4A92-B719-C044F4C9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06680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6F5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0" name="history-node">
            <a:extLst xmlns:a="http://schemas.openxmlformats.org/drawingml/2006/main">
              <a:ext uri="{FF2B5EF4-FFF2-40B4-BE49-F238E27FC236}">
                <a16:creationId xmlns:a16="http://schemas.microsoft.com/office/drawing/2014/main" id="{3843D112-FC7F-4535-9559-BC4F26DE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2762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168A4B"/>
            </a:solidFill>
            <a:prstDash val="solid"/>
          </a:ln>
        </p:spPr>
      </p:sp>
      <p:sp>
        <p:nvSpPr>
          <p:cNvPr id="11" name="db-node">
            <a:extLst xmlns:a="http://schemas.openxmlformats.org/drawingml/2006/main">
              <a:ext uri="{FF2B5EF4-FFF2-40B4-BE49-F238E27FC236}">
                <a16:creationId xmlns:a16="http://schemas.microsoft.com/office/drawing/2014/main" id="{076646A4-BBAB-4D23-B56B-D0EA3309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624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6F5"/>
          </a:solidFill>
          <a:ln xmlns:a="http://schemas.openxmlformats.org/drawingml/2006/main" w="9525">
            <a:solidFill>
              <a:srgbClr val="168A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326FA-3845-43A2-8F06-16D616CA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25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C32CA-6CAB-4968-A75C-948D02B4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485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HTML · CSS · JS
показує дані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8A65F-6F4D-4766-8D87-314732C0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Backend / Proxy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7BB1C-E0EC-4053-BA7F-B8AEF56D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190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Python · FastAPI
валідує й координує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981B8-7F09-4A02-BEBB-44A7B9D7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219200"/>
            <a:ext cx="1104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CoinGecko
Frankfurter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0A21D-9C61-41DE-940E-7B4C4C81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527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History 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0588D-6A29-4236-B9FD-6DC5B9F2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2000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Go · net/http · pgx
зберігає й повертає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AE9E5-14DD-41D0-A984-975BCF65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E3D16-CC57-46C2-860D-E1A18C6D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33950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v16 · NUMERIC
TIMESTAMPTZ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FB2D7-FD6C-4F98-AC54-8DF43384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Головний принцип: UI не знає ні провайдерів, ні БД; Backend не володіє SQL-схемою.</a:t>
            </a:r>
          </a:p>
        </p:txBody>
      </p:sp>
    </p:spTree>
    <p:extLst>
      <p:ext uri="{BB962C8B-B14F-4D97-AF65-F5344CB8AC3E}">
        <p14:creationId xmlns:p14="http://schemas.microsoft.com/office/powerpoint/2010/main" val="1129761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CE0D35-34C9-4D56-96F4-4D613AF8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99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Refresh проходить контрольований шлях від UI до PostgreSQL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FFE30A-F1CF-40DC-B532-93C565C4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cxnSp>
        <p:nvCxnSpPr>
          <p:cNvPr id="30" name="flow-1"/>
          <p:cNvCxnSpPr/>
          <p:nvPr/>
        </p:nvCxnSpPr>
        <p:spPr>
          <a:xfrm xmlns:a="http://schemas.openxmlformats.org/drawingml/2006/main">
            <a:off x="1466850" y="3048000"/>
            <a:ext cx="18097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068"/>
            </a:solidFill>
            <a:prstDash val="solid"/>
          </a:ln>
        </p:spPr>
      </p:cxnSp>
      <p:cxnSp>
        <p:nvCxnSpPr>
          <p:cNvPr id="31" name="flow-2"/>
          <p:cNvCxnSpPr/>
          <p:nvPr/>
        </p:nvCxnSpPr>
        <p:spPr>
          <a:xfrm xmlns:a="http://schemas.openxmlformats.org/drawingml/2006/main">
            <a:off x="3676650" y="3048000"/>
            <a:ext cx="18097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068"/>
            </a:solidFill>
            <a:prstDash val="solid"/>
          </a:ln>
        </p:spPr>
      </p:cxnSp>
      <p:cxnSp>
        <p:nvCxnSpPr>
          <p:cNvPr id="32" name="flow-3"/>
          <p:cNvCxnSpPr/>
          <p:nvPr/>
        </p:nvCxnSpPr>
        <p:spPr>
          <a:xfrm xmlns:a="http://schemas.openxmlformats.org/drawingml/2006/main">
            <a:off x="5886450" y="3048000"/>
            <a:ext cx="18097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068"/>
            </a:solidFill>
            <a:prstDash val="solid"/>
          </a:ln>
        </p:spPr>
      </p:cxnSp>
      <p:cxnSp>
        <p:nvCxnSpPr>
          <p:cNvPr id="33" name="flow-4"/>
          <p:cNvCxnSpPr/>
          <p:nvPr/>
        </p:nvCxnSpPr>
        <p:spPr>
          <a:xfrm xmlns:a="http://schemas.openxmlformats.org/drawingml/2006/main">
            <a:off x="8096250" y="3048000"/>
            <a:ext cx="18097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068"/>
            </a:solidFill>
            <a:prstDash val="solid"/>
          </a:ln>
        </p:spPr>
      </p:cxn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C3386C0C-3382-4758-ACDA-C8858D00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52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15"/>
          </a:solidFill>
        </p:spPr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365A57AF-99EA-4CB2-BA98-D59981C6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52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15"/>
          </a:solidFill>
        </p:spPr>
      </p:sp>
      <p:sp>
        <p:nvSpPr>
          <p:cNvPr id="9" name="dot-3">
            <a:extLst xmlns:a="http://schemas.openxmlformats.org/drawingml/2006/main">
              <a:ext uri="{FF2B5EF4-FFF2-40B4-BE49-F238E27FC236}">
                <a16:creationId xmlns:a16="http://schemas.microsoft.com/office/drawing/2014/main" id="{B41CA24E-6835-4F50-90C9-8805C780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52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15"/>
          </a:solidFill>
        </p:spPr>
      </p:sp>
      <p:sp>
        <p:nvSpPr>
          <p:cNvPr id="10" name="dot-4">
            <a:extLst xmlns:a="http://schemas.openxmlformats.org/drawingml/2006/main">
              <a:ext uri="{FF2B5EF4-FFF2-40B4-BE49-F238E27FC236}">
                <a16:creationId xmlns:a16="http://schemas.microsoft.com/office/drawing/2014/main" id="{C2587CC7-778C-4BD9-B5D9-02A92325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15"/>
          </a:solidFill>
        </p:spPr>
      </p:sp>
      <p:sp>
        <p:nvSpPr>
          <p:cNvPr id="11" name="dot-5">
            <a:extLst xmlns:a="http://schemas.openxmlformats.org/drawingml/2006/main">
              <a:ext uri="{FF2B5EF4-FFF2-40B4-BE49-F238E27FC236}">
                <a16:creationId xmlns:a16="http://schemas.microsoft.com/office/drawing/2014/main" id="{83B2A06B-DEC8-4C65-AA46-80E1E0B8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52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4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85EE1-2771-4164-AC28-32A212A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228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4CAB1-624E-4B77-B7E9-3AF96725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19350"/>
            <a:ext cx="228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2A432-625C-41B7-8E9A-55930F8B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19350"/>
            <a:ext cx="228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A0FBB-46C4-4A46-BA57-EE2E843A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228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EC9D2-B15C-4731-8E9D-90229811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19350"/>
            <a:ext cx="228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4A6AF-B6D4-4076-9404-A53A206D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AC047-78E0-4751-B41C-EA181AC5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619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надсилає instrument IDs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B4CA6-616D-4108-9F1E-58E00B5A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052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8813B6-E1D1-4CAC-B1A3-D65EB59B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1619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валідує запит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DED75-C965-4439-80C1-30D3D313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052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Provider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DDD4C-BA60-4B3D-9ADE-958ECD2F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86200"/>
            <a:ext cx="1619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повертає свіжі дані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4D4E83-F224-4BB0-9BB4-58E7311B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052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Normalize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8E9B57-9663-4036-9411-8F2D779D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86200"/>
            <a:ext cx="1619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єдиний Rate contract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2E702-DB22-4E7A-B38A-92B46B87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052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Persist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22EFBA-E8EC-403F-9C4C-C879529F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86200"/>
            <a:ext cx="1809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History робить idempotent insert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8E08AB-15DA-4254-BB97-5602A30C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057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Якщо збереження не вдалося, UI отримує актуальну ціну з persistence_status = failed — помилка не маскується.</a:t>
            </a:r>
          </a:p>
        </p:txBody>
      </p:sp>
    </p:spTree>
    <p:extLst>
      <p:ext uri="{BB962C8B-B14F-4D97-AF65-F5344CB8AC3E}">
        <p14:creationId xmlns:p14="http://schemas.microsoft.com/office/powerpoint/2010/main" val="611879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31D7A7-EEE7-4559-8B04-0E980A82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Технології обрані під відповідальність сервісу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00B7F3-4027-4A66-95F7-5A471C35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5438A-C7E2-44ED-905C-34AC80CE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8CFD3-9E6D-4FD9-BB4A-DDF85B40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Vanilla JS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51A6B-E37A-406B-819E-5FF7AA21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Мінімум магії; мережеві межі видно без framework abstraction.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6A97B-6897-4A1C-8C60-28E42AE4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14B3C-F740-413F-8016-7CA6C306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Python + FastAPI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6D31D-93E7-4AC4-8DFE-8983B501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Швидка валідація, async I/O, Pydantic і автоматичний OpenAPI.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364AF-0852-41C4-A2BF-22D5BB21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B5934-FADC-4B4A-9DEE-637DCB31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Go + pgx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F95DD-2F89-4ACA-A905-3865E831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035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Компільований сервіс, простий HTTP runtime і явна робота з PostgreSQL.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992C2-7CBD-4588-8D2F-82639E23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7EA26-7F35-40A8-9F4B-DA0961CD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52650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B9C21-2D5A-4457-9D2C-CE7EA605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Точні NUMERIC, UTC timestamps, constraints та idempotency.</a:t>
            </a:r>
          </a:p>
        </p:txBody>
      </p:sp>
      <p:sp>
        <p:nvSpPr>
          <p:cNvPr id="15" name="tradeoff">
            <a:extLst xmlns:a="http://schemas.openxmlformats.org/drawingml/2006/main">
              <a:ext uri="{FF2B5EF4-FFF2-40B4-BE49-F238E27FC236}">
                <a16:creationId xmlns:a16="http://schemas.microsoft.com/office/drawing/2014/main" id="{39BBFF0C-FB5F-4B98-9A9E-8CDA40F9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108966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4F6F5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0775E-90A2-467E-AFAB-A9C212CF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Свідомий компроміс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A69591-83AE-409C-91C1-E41D41B6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48250"/>
            <a:ext cx="8001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In-memory cache і послідовний batch достатні для Assignment 1, але для масштабування знадобляться shared cache, транзакційний batch або черга.</a:t>
            </a:r>
          </a:p>
        </p:txBody>
      </p:sp>
    </p:spTree>
    <p:extLst>
      <p:ext uri="{BB962C8B-B14F-4D97-AF65-F5344CB8AC3E}">
        <p14:creationId xmlns:p14="http://schemas.microsoft.com/office/powerpoint/2010/main" val="1138344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2A18A9-549F-4EFF-8A09-CFB307F4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69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Функціональність перевищує мінімум, але не змінює межі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0282011-A61E-40D8-BDF3-F66AC21F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B0968-5F55-403C-9FE2-CA6B4132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85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Усі дані все одно проходять через Backend; додаткові можливості залишаються клієнтськими представленнями стабільного API.</a:t>
            </a:r>
          </a:p>
        </p:txBody>
      </p:sp>
      <p:sp>
        <p:nvSpPr>
          <p:cNvPr id="4" name="feature-1">
            <a:extLst xmlns:a="http://schemas.openxmlformats.org/drawingml/2006/main">
              <a:ext uri="{FF2B5EF4-FFF2-40B4-BE49-F238E27FC236}">
                <a16:creationId xmlns:a16="http://schemas.microsoft.com/office/drawing/2014/main" id="{DB337C1F-0D03-41CF-87AC-CD6F5CE0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52197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5" name="feature-2">
            <a:extLst xmlns:a="http://schemas.openxmlformats.org/drawingml/2006/main">
              <a:ext uri="{FF2B5EF4-FFF2-40B4-BE49-F238E27FC236}">
                <a16:creationId xmlns:a16="http://schemas.microsoft.com/office/drawing/2014/main" id="{C0B1B2B8-8099-43D6-A574-ABA54A32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76450"/>
            <a:ext cx="52197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6" name="feature-3">
            <a:extLst xmlns:a="http://schemas.openxmlformats.org/drawingml/2006/main">
              <a:ext uri="{FF2B5EF4-FFF2-40B4-BE49-F238E27FC236}">
                <a16:creationId xmlns:a16="http://schemas.microsoft.com/office/drawing/2014/main" id="{BA4FB32F-BBAD-4934-A272-6ADFDFEE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52197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7" name="feature-4">
            <a:extLst xmlns:a="http://schemas.openxmlformats.org/drawingml/2006/main">
              <a:ext uri="{FF2B5EF4-FFF2-40B4-BE49-F238E27FC236}">
                <a16:creationId xmlns:a16="http://schemas.microsoft.com/office/drawing/2014/main" id="{EE156D66-8707-4806-A00A-A0999472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67150"/>
            <a:ext cx="52197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6EBF9-553C-46EA-A5FD-352FD04F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Огляд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A0CCA-767A-44EC-BDAA-6F50667B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552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Top-10, картки порівняння, 1h/1d зміни та 7-денні sparklines.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CA61F-950C-49A1-849E-CAF9D039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762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Історичні графіки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54439-AAE7-480C-80A7-3C319EA0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552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До 5 серій, price/% режими, zoom, tooltip і кілька незалежних графіків.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2B5DF-FF18-4E96-84F2-6E822862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Капіталізація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3A336-C4F7-4597-A5B8-DDA51D69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552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Treemap: площа = market cap, колір = зміна за обраний період.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31FC5-4225-4366-9EA1-3FA7E1BB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Експорт і теми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C59A3-6285-49B7-9CED-56892DC0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4552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Структурований PDF, світла/темна тема, responsive та keyboard controls.</a:t>
            </a:r>
          </a:p>
        </p:txBody>
      </p:sp>
    </p:spTree>
    <p:extLst>
      <p:ext uri="{BB962C8B-B14F-4D97-AF65-F5344CB8AC3E}">
        <p14:creationId xmlns:p14="http://schemas.microsoft.com/office/powerpoint/2010/main" val="8393140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0BF99F-379E-4F22-986E-F4FE31B1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Точність і повторюваність закладені в модель даних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75A690C-3413-410E-84BA-07EF8D4D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112DA-C884-487C-9C53-5CD2E550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066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Фінансові значення проходять через сервіси без втрати precision, а повторні запити не створюють дублікати.</a:t>
            </a:r>
          </a:p>
        </p:txBody>
      </p:sp>
      <p:sp>
        <p:nvSpPr>
          <p:cNvPr id="4" name="stat-1">
            <a:extLst xmlns:a="http://schemas.openxmlformats.org/drawingml/2006/main">
              <a:ext uri="{FF2B5EF4-FFF2-40B4-BE49-F238E27FC236}">
                <a16:creationId xmlns:a16="http://schemas.microsoft.com/office/drawing/2014/main" id="{352A9158-A702-4FFB-BD7B-C24F6C9E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33528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5" name="stat-2">
            <a:extLst xmlns:a="http://schemas.openxmlformats.org/drawingml/2006/main">
              <a:ext uri="{FF2B5EF4-FFF2-40B4-BE49-F238E27FC236}">
                <a16:creationId xmlns:a16="http://schemas.microsoft.com/office/drawing/2014/main" id="{9B22A5AE-38CE-446E-A5F5-A49643CC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86000"/>
            <a:ext cx="33528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6" name="stat-3">
            <a:extLst xmlns:a="http://schemas.openxmlformats.org/drawingml/2006/main">
              <a:ext uri="{FF2B5EF4-FFF2-40B4-BE49-F238E27FC236}">
                <a16:creationId xmlns:a16="http://schemas.microsoft.com/office/drawing/2014/main" id="{733FB5F2-B708-4476-8969-AAE7E964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86000"/>
            <a:ext cx="33528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C9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36187-3749-4D80-B147-8C4F6F69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781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NUMERIC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2729A-A8AC-4767-B87D-4C5CC930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781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Decimal values передаються JSON-рядками; UI лише форматує до 2 знаків.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F4BA4-EB52-4410-867B-A2D08378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62250"/>
            <a:ext cx="2781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UTC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9CEF2-159D-474C-9480-3C9A9135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76650"/>
            <a:ext cx="2781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05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source_timestamp і requested_at мають різний зміст та зберігаються як TIMESTAMPTZ.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90C55-9F50-492B-867F-B324BD25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50"/>
            <a:ext cx="2781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UNIQUE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8AB1D-903C-4C66-80BB-536813B4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76650"/>
            <a:ext cx="2781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25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(source, instrument, source time) + ON CONFLICT DO NOTHING забезпечують idempotency.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39799-C1B5-42DF-A09B-E5C82D5D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00700"/>
            <a:ext cx="1000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Додатково: bounded retries, timeouts, CORS, bearer token до History і health checks.</a:t>
            </a:r>
          </a:p>
        </p:txBody>
      </p:sp>
    </p:spTree>
    <p:extLst>
      <p:ext uri="{BB962C8B-B14F-4D97-AF65-F5344CB8AC3E}">
        <p14:creationId xmlns:p14="http://schemas.microsoft.com/office/powerpoint/2010/main" val="8882208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594CD-82E1-4047-835E-29BB58F8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A4B"/>
                </a:solidFill>
                <a:latin typeface="Helvetica Neue"/>
                <a:ea typeface="Helvetica Neue"/>
                <a:cs typeface="Helvetica Neue"/>
              </a:defRPr>
            </a:pPr>
            <a:r>
              <a:t>ВИСНОВОК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5034D-C791-4ED4-B616-5CCCB317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057275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708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Rateboard — це не один великий застосунок, а зрозумілий ланцюг відповідальності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8C824-9742-4EDC-9C17-C92176C9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15"/>
                </a:solidFill>
                <a:latin typeface="Helvetica Neue"/>
                <a:ea typeface="Helvetica Neue"/>
                <a:cs typeface="Helvetica Neue"/>
              </a:defRPr>
            </a:pPr>
            <a:r>
              <a:t>UI показує · Backend координує · History зберігає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BB504-B9AD-4F1B-9F0F-17A92390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9334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068"/>
                </a:solidFill>
                <a:latin typeface="Helvetica Neue"/>
                <a:ea typeface="Helvetica Neue"/>
                <a:cs typeface="Helvetica Neue"/>
              </a:defRPr>
            </a:pPr>
            <a:r>
              <a:t>Наступний крок: додати в UI перегляд збережених запитів і закрити останній пункт Assignment 1.</a:t>
            </a:r>
          </a:p>
        </p:txBody>
      </p:sp>
    </p:spTree>
    <p:extLst>
      <p:ext uri="{BB962C8B-B14F-4D97-AF65-F5344CB8AC3E}">
        <p14:creationId xmlns:p14="http://schemas.microsoft.com/office/powerpoint/2010/main" val="845142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2026-07-17T08:55:47.3610000Z</dcterms:created>
  <dcterms:modified xsi:type="dcterms:W3CDTF">2026-07-17T08:55:47.3610000Z</dcterms:modified>
</coreProperties>
</file>